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8" r:id="rId3"/>
    <p:sldId id="262" r:id="rId4"/>
    <p:sldId id="259" r:id="rId5"/>
    <p:sldId id="260" r:id="rId6"/>
    <p:sldId id="276" r:id="rId7"/>
    <p:sldId id="261" r:id="rId8"/>
    <p:sldId id="263" r:id="rId9"/>
    <p:sldId id="264" r:id="rId10"/>
    <p:sldId id="275" r:id="rId11"/>
    <p:sldId id="267" r:id="rId12"/>
    <p:sldId id="265" r:id="rId13"/>
    <p:sldId id="269" r:id="rId14"/>
    <p:sldId id="270" r:id="rId15"/>
    <p:sldId id="274" r:id="rId16"/>
    <p:sldId id="268" r:id="rId17"/>
    <p:sldId id="271" r:id="rId18"/>
    <p:sldId id="272" r:id="rId19"/>
    <p:sldId id="273" r:id="rId20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Economica" panose="020B060402020202020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2" y="4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5553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1952F-452D-4217-A206-F472AE28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39" y="1806450"/>
            <a:ext cx="8265319" cy="1530600"/>
          </a:xfrm>
          <a:ln w="28575">
            <a:solidFill>
              <a:schemeClr val="accent3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uk-UA" sz="3200" b="1" noProof="0" dirty="0" err="1"/>
              <a:t>Вебзастосунок</a:t>
            </a:r>
            <a:r>
              <a:rPr lang="uk-UA" sz="3200" b="1" noProof="0" dirty="0"/>
              <a:t> для дистанційного моніторингу стану укриттів</a:t>
            </a:r>
          </a:p>
        </p:txBody>
      </p:sp>
      <p:sp>
        <p:nvSpPr>
          <p:cNvPr id="3" name="Google Shape;63;p13">
            <a:extLst>
              <a:ext uri="{FF2B5EF4-FFF2-40B4-BE49-F238E27FC236}">
                <a16:creationId xmlns:a16="http://schemas.microsoft.com/office/drawing/2014/main" id="{DE6932CF-18BC-659C-E420-A3CF8B078823}"/>
              </a:ext>
            </a:extLst>
          </p:cNvPr>
          <p:cNvSpPr txBox="1">
            <a:spLocks/>
          </p:cNvSpPr>
          <p:nvPr/>
        </p:nvSpPr>
        <p:spPr>
          <a:xfrm>
            <a:off x="1981104" y="3593150"/>
            <a:ext cx="2590896" cy="1087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Виконала:</a:t>
            </a:r>
          </a:p>
          <a:p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ПЗПІ-23-4</a:t>
            </a:r>
          </a:p>
          <a:p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Туренко Ю. С.</a:t>
            </a:r>
          </a:p>
        </p:txBody>
      </p:sp>
      <p:sp>
        <p:nvSpPr>
          <p:cNvPr id="4" name="Google Shape;63;p13">
            <a:extLst>
              <a:ext uri="{FF2B5EF4-FFF2-40B4-BE49-F238E27FC236}">
                <a16:creationId xmlns:a16="http://schemas.microsoft.com/office/drawing/2014/main" id="{B38AC12A-49ED-CB8E-9331-0AB4479CC085}"/>
              </a:ext>
            </a:extLst>
          </p:cNvPr>
          <p:cNvSpPr txBox="1">
            <a:spLocks/>
          </p:cNvSpPr>
          <p:nvPr/>
        </p:nvSpPr>
        <p:spPr>
          <a:xfrm>
            <a:off x="5018314" y="3593149"/>
            <a:ext cx="2710543" cy="1087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</a:t>
            </a:r>
          </a:p>
          <a:p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к.т.н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доц. каф. ПІ </a:t>
            </a:r>
          </a:p>
          <a:p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Русакова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Н. Є.</a:t>
            </a:r>
          </a:p>
        </p:txBody>
      </p:sp>
      <p:sp>
        <p:nvSpPr>
          <p:cNvPr id="5" name="Google Shape;63;p13">
            <a:extLst>
              <a:ext uri="{FF2B5EF4-FFF2-40B4-BE49-F238E27FC236}">
                <a16:creationId xmlns:a16="http://schemas.microsoft.com/office/drawing/2014/main" id="{6D4A7CCF-13CE-1ECD-4241-56812D859CF1}"/>
              </a:ext>
            </a:extLst>
          </p:cNvPr>
          <p:cNvSpPr txBox="1">
            <a:spLocks/>
          </p:cNvSpPr>
          <p:nvPr/>
        </p:nvSpPr>
        <p:spPr>
          <a:xfrm>
            <a:off x="1330777" y="462643"/>
            <a:ext cx="6482442" cy="1087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</a:t>
            </a:r>
          </a:p>
          <a:p>
            <a:pPr algn="ctr"/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Харківський національний університет радіоелектроніки</a:t>
            </a:r>
            <a:endParaRPr lang="uk-UA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7097DA8-48DE-DC17-EB50-7F70B995711C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01494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DC1CC5A-9E65-4723-D68F-00A010B46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225225"/>
            <a:ext cx="8520599" cy="1333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Метою розробки є проєктування та реалізація програмної системи для дистанційного моніторингу укриттів, збору та аналізу даних від сенсорів, а також управління їх ресурсами та інформування користувачів.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9F25F39-24FE-4615-BF1D-FE25DBDF43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11697" y="2523216"/>
            <a:ext cx="8520601" cy="2069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Враховуючи сучасні реалії, розробка та впровадження такої системи є своєчасним і обґрунтованим рішенням. Адже, укриття стали невід’ємними об’єктами інфраструктури. Зважаючи на це, важливим є не лише фізичний доступ до укриття, але й наявність інформації про його стан, доступність та умови перебування.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FE28F515-8D8E-1845-2601-AA403F15D58A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noProof="0" dirty="0"/>
              <a:t>2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72B72275-4715-27D1-62FB-CDE15C31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3280586" cy="831300"/>
          </a:xfrm>
        </p:spPr>
        <p:txBody>
          <a:bodyPr anchor="ctr">
            <a:normAutofit/>
          </a:bodyPr>
          <a:lstStyle/>
          <a:p>
            <a:r>
              <a:rPr lang="uk-UA" sz="4000" b="1" noProof="0" dirty="0"/>
              <a:t>Мета роботи</a:t>
            </a:r>
          </a:p>
        </p:txBody>
      </p:sp>
      <p:cxnSp>
        <p:nvCxnSpPr>
          <p:cNvPr id="18" name="Пряма сполучна лінія 17">
            <a:extLst>
              <a:ext uri="{FF2B5EF4-FFF2-40B4-BE49-F238E27FC236}">
                <a16:creationId xmlns:a16="http://schemas.microsoft.com/office/drawing/2014/main" id="{53B74FE0-251C-7A70-EF48-56BCF306B7F9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3592286" y="551157"/>
            <a:ext cx="5551714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 сполучна лінія 18">
            <a:extLst>
              <a:ext uri="{FF2B5EF4-FFF2-40B4-BE49-F238E27FC236}">
                <a16:creationId xmlns:a16="http://schemas.microsoft.com/office/drawing/2014/main" id="{C291D4F4-9DB8-90AB-C4BE-2610975AE84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47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E699-03D9-6BF9-95AF-587027A0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F5AC248-4231-779E-B0EB-793C69E6256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73566" y="944508"/>
            <a:ext cx="8396868" cy="398871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Основною проблемою є відсутність єдиного рішення, яке б забезпечувало людей актуальною інформацією про укриття, підтримувало ефективну комунікацію та надавало можливості для моніторингу їхнього стану. Це призводить до труднощів під час пошуку безпечного укриття, а також ускладнює роботу відповідальних осіб щодо контролю та аналізу ситуації. Для вирішення цих проблем ефективне </a:t>
            </a:r>
            <a:r>
              <a:rPr lang="uk-UA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рішення повинно поєднувати: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актуальне й зручне надання розташування захисних споруд;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автоматизований моніторинг стану укриттів за допомогою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централізовану обробку та зберігання даних;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оперативне інформування користувачів;</a:t>
            </a:r>
          </a:p>
          <a:p>
            <a:pPr marL="50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можливість обміну інформацією між користувачами.</a:t>
            </a: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356C43B9-EAEC-029A-750F-FD075A5250FA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noProof="0" dirty="0"/>
              <a:t>3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D8C30AC-BED6-5AEB-9AD9-F632093D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4401814" cy="831300"/>
          </a:xfrm>
        </p:spPr>
        <p:txBody>
          <a:bodyPr anchor="ctr">
            <a:normAutofit/>
          </a:bodyPr>
          <a:lstStyle/>
          <a:p>
            <a:r>
              <a:rPr lang="uk-UA" sz="4000" b="1" noProof="0" dirty="0"/>
              <a:t>Аналіз проблеми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D4141430-E2A9-9F90-2406-57D9CA9EAFDC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713514" y="551157"/>
            <a:ext cx="4430486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A3F5CC5E-E1A7-4A3D-D483-79CAF165417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46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80E5B-179C-B025-E02B-3B75DD26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2FCA251-849A-615E-3C52-C920B30C2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21229"/>
            <a:ext cx="3922843" cy="3457996"/>
          </a:xfrm>
        </p:spPr>
        <p:txBody>
          <a:bodyPr/>
          <a:lstStyle/>
          <a:p>
            <a:pPr marL="0" indent="0">
              <a:buNone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Було проаналізовано такі аналоги і конкуренти як:</a:t>
            </a:r>
          </a:p>
          <a:p>
            <a:pPr marL="0" indent="-285750">
              <a:lnSpc>
                <a:spcPct val="100000"/>
              </a:lnSpc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Офіційний портал ДСНС;</a:t>
            </a:r>
          </a:p>
          <a:p>
            <a:pPr marL="0" indent="-285750">
              <a:lnSpc>
                <a:spcPct val="100000"/>
              </a:lnSpc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Мапа Одеської міської ради;</a:t>
            </a:r>
          </a:p>
          <a:p>
            <a:pPr marL="0" indent="-285750">
              <a:lnSpc>
                <a:spcPct val="100000"/>
              </a:lnSpc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ГІС Києва;</a:t>
            </a:r>
          </a:p>
          <a:p>
            <a:pPr marL="0" indent="-285750">
              <a:lnSpc>
                <a:spcPct val="100000"/>
              </a:lnSpc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Sahana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Eden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-285750">
              <a:lnSpc>
                <a:spcPct val="100000"/>
              </a:lnSpc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Stepping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Stone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-285750">
              <a:lnSpc>
                <a:spcPct val="100000"/>
              </a:lnSpc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SafeCY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Cyprus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Civil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-285750">
              <a:lnSpc>
                <a:spcPct val="100000"/>
              </a:lnSpc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Safyr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Bunker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Shelter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9076213-3F3B-5E0A-1502-83EA04C092A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11600" y="1121229"/>
            <a:ext cx="4520700" cy="395329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uk-UA" sz="8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Було виділено такі переваги та недоліки цих систем:</a:t>
            </a:r>
          </a:p>
          <a:p>
            <a:pPr marL="360000" lvl="1" indent="-216000">
              <a:lnSpc>
                <a:spcPct val="120000"/>
              </a:lnSpc>
              <a:buFont typeface="Symbol" panose="05050102010706020507" pitchFamily="18" charset="2"/>
              <a:buChar char=""/>
            </a:pPr>
            <a:r>
              <a:rPr lang="uk-UA" sz="8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зручність використання інтерфейсу;</a:t>
            </a:r>
          </a:p>
          <a:p>
            <a:pPr marL="360000" lvl="1" indent="-216000">
              <a:lnSpc>
                <a:spcPct val="120000"/>
              </a:lnSpc>
              <a:buFont typeface="Symbol" panose="05050102010706020507" pitchFamily="18" charset="2"/>
              <a:buChar char=""/>
            </a:pPr>
            <a:r>
              <a:rPr lang="uk-UA" sz="8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доступність для широкого кола користувачів;</a:t>
            </a:r>
          </a:p>
          <a:p>
            <a:pPr marL="360000" lvl="1" indent="-216000">
              <a:lnSpc>
                <a:spcPct val="120000"/>
              </a:lnSpc>
              <a:buFont typeface="Symbol" panose="05050102010706020507" pitchFamily="18" charset="2"/>
              <a:buChar char=""/>
            </a:pPr>
            <a:r>
              <a:rPr lang="uk-UA" sz="8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наявність офіційної інформації; </a:t>
            </a:r>
          </a:p>
          <a:p>
            <a:pPr marL="360000" lvl="1" indent="-216000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sz="8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 зв’язку між користувачами через саму систему;</a:t>
            </a:r>
          </a:p>
          <a:p>
            <a:pPr marL="360000" lvl="1" indent="-216000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sz="8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обмежена або застаріла інформація</a:t>
            </a:r>
          </a:p>
          <a:p>
            <a:pPr marL="360000" lvl="1" indent="-216000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sz="8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 даних у реальному часі;</a:t>
            </a:r>
          </a:p>
          <a:p>
            <a:pPr marL="360000" lvl="1" indent="-216000">
              <a:lnSpc>
                <a:spcPct val="120000"/>
              </a:lnSpc>
              <a:buFont typeface="Symbol" panose="05050102010706020507" pitchFamily="18" charset="2"/>
              <a:buChar char="-"/>
            </a:pPr>
            <a:r>
              <a:rPr lang="uk-UA" sz="8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 інтеграції з </a:t>
            </a:r>
            <a:r>
              <a:rPr lang="uk-UA" sz="8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8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77A2FFB-E5CC-042D-1351-AEA1D6528CB3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noProof="0" dirty="0"/>
              <a:t>4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63445F1-70E0-2692-246C-C4E45BB8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4097014" cy="831300"/>
          </a:xfrm>
        </p:spPr>
        <p:txBody>
          <a:bodyPr anchor="ctr">
            <a:normAutofit/>
          </a:bodyPr>
          <a:lstStyle/>
          <a:p>
            <a:r>
              <a:rPr lang="uk-UA" sz="4000" b="1" noProof="0" dirty="0"/>
              <a:t>Аналіз аналогів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931A4F8F-6EF6-6AA8-D0A6-A465E6B815B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408714" y="551157"/>
            <a:ext cx="4735286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33164318-9CAD-D3D3-51A4-255BDD919DF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416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03B6-44B8-F92F-A26D-C87B7CD3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D717374-1A9F-3648-513D-8B6B7217F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21229"/>
            <a:ext cx="3999900" cy="3457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Ідея проєкту: вирішити проблему відсутності централізованого доступу до актуальних даних про стан укриттів, забезпечуючи збір інформації в реальному часі, її аналіз, своєчасне інформування користувачів про важливі новини.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C67FFB4-E29F-A318-1CEF-83E8BF2544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1121229"/>
            <a:ext cx="4075800" cy="373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результаті має бути реалізований мінімально життєздатний продукт, що слугуватиме ефективною системою дистанційного моніторингу укриттів за допомогою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обробки даних, інформування користувачів і зручного інтерфейсу.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46C71A9-1A89-AA95-E0BB-6EA9F7DFBA77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noProof="0" dirty="0"/>
              <a:t>5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D1154ED2-1698-7F99-29A3-DC4D5B3F1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4369157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Постановка задачі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5B37D23F-0154-A204-8E9C-92CFD12E239F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680857" y="551157"/>
            <a:ext cx="4463143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AF71EB2B-AF2D-AE7D-6A9B-C0769E063BE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31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C3D2E-D10E-56B5-5BB8-AE6883A3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626AD96D-C728-44E5-6FA8-29BF60482EA3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noProof="0" dirty="0"/>
              <a:t>6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D2508AFD-FB26-44A8-37F4-6EA210703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4137637" cy="831300"/>
          </a:xfrm>
        </p:spPr>
        <p:txBody>
          <a:bodyPr anchor="ctr">
            <a:normAutofit fontScale="90000"/>
          </a:bodyPr>
          <a:lstStyle/>
          <a:p>
            <a:r>
              <a:rPr lang="es-ES" sz="4000" b="1" noProof="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Use-case</a:t>
            </a:r>
            <a:r>
              <a:rPr lang="es-ES" sz="40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k-UA" sz="4000" b="1" noProof="0" dirty="0"/>
              <a:t>діаграма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C56ADF0B-6846-A8C9-2A20-4CC0E9CA7624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449337" y="551157"/>
            <a:ext cx="4694663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1A8CAB80-193A-708A-40C8-84E30913FC7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8CCE7E-72BC-DD08-937D-323F1692C4B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8" r="695" b="1079"/>
          <a:stretch>
            <a:fillRect/>
          </a:stretch>
        </p:blipFill>
        <p:spPr bwMode="auto">
          <a:xfrm>
            <a:off x="309073" y="979925"/>
            <a:ext cx="5260122" cy="3927572"/>
          </a:xfrm>
          <a:prstGeom prst="rect">
            <a:avLst/>
          </a:prstGeom>
          <a:ln w="28575"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1ED0380-DB99-DA45-71E6-916B0B9AC4A9}"/>
              </a:ext>
            </a:extLst>
          </p:cNvPr>
          <p:cNvSpPr txBox="1">
            <a:spLocks/>
          </p:cNvSpPr>
          <p:nvPr/>
        </p:nvSpPr>
        <p:spPr>
          <a:xfrm>
            <a:off x="5798634" y="966807"/>
            <a:ext cx="2849165" cy="388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None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початком проєктування архітектури системи була побудована </a:t>
            </a:r>
            <a:b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Use-case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діаграма, яка відображає взаємодію користувачів та зовнішніх компонентів із системою .</a:t>
            </a:r>
          </a:p>
        </p:txBody>
      </p:sp>
    </p:spTree>
    <p:extLst>
      <p:ext uri="{BB962C8B-B14F-4D97-AF65-F5344CB8AC3E}">
        <p14:creationId xmlns:p14="http://schemas.microsoft.com/office/powerpoint/2010/main" val="3437644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82C5-EAC1-33AF-F87C-22CD4920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E9F211A0-6FE0-5859-A99C-5052086E82EE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/>
              <a:t>7</a:t>
            </a:r>
            <a:endParaRPr lang="uk-UA" noProof="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E4F6698-0AC1-657A-F44E-9C1218915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148625"/>
            <a:ext cx="5305330" cy="831300"/>
          </a:xfrm>
        </p:spPr>
        <p:txBody>
          <a:bodyPr anchor="ctr">
            <a:normAutofit/>
          </a:bodyPr>
          <a:lstStyle/>
          <a:p>
            <a:r>
              <a:rPr lang="uk-UA" sz="4000" b="1" noProof="0" dirty="0"/>
              <a:t>Технології розробки</a:t>
            </a:r>
          </a:p>
        </p:txBody>
      </p:sp>
      <p:cxnSp>
        <p:nvCxnSpPr>
          <p:cNvPr id="7" name="Пряма сполучна лінія 6">
            <a:extLst>
              <a:ext uri="{FF2B5EF4-FFF2-40B4-BE49-F238E27FC236}">
                <a16:creationId xmlns:a16="http://schemas.microsoft.com/office/drawing/2014/main" id="{79EB5525-22CA-50BE-D231-154BF073C0E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617029" y="551157"/>
            <a:ext cx="3526971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B7AB257C-A873-ED28-F727-FFBC088C454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0" y="564275"/>
            <a:ext cx="311699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Місце для тексту 3">
            <a:extLst>
              <a:ext uri="{FF2B5EF4-FFF2-40B4-BE49-F238E27FC236}">
                <a16:creationId xmlns:a16="http://schemas.microsoft.com/office/drawing/2014/main" id="{B8D09538-CC06-4295-223F-2D30AE5D7186}"/>
              </a:ext>
            </a:extLst>
          </p:cNvPr>
          <p:cNvSpPr txBox="1">
            <a:spLocks/>
          </p:cNvSpPr>
          <p:nvPr/>
        </p:nvSpPr>
        <p:spPr>
          <a:xfrm>
            <a:off x="199856" y="1099457"/>
            <a:ext cx="3335015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uk-UA" sz="2200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uk-UA" sz="22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ASP.NET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ASP.NET </a:t>
            </a: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і </a:t>
            </a: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Google.Apis.Auth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MediatR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FluentValidation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MQTTnet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Місце для тексту 3">
            <a:extLst>
              <a:ext uri="{FF2B5EF4-FFF2-40B4-BE49-F238E27FC236}">
                <a16:creationId xmlns:a16="http://schemas.microsoft.com/office/drawing/2014/main" id="{10E226D8-4160-1DEA-AC24-C1C3BBB8ECF0}"/>
              </a:ext>
            </a:extLst>
          </p:cNvPr>
          <p:cNvSpPr txBox="1">
            <a:spLocks/>
          </p:cNvSpPr>
          <p:nvPr/>
        </p:nvSpPr>
        <p:spPr>
          <a:xfrm>
            <a:off x="3646714" y="1099457"/>
            <a:ext cx="2608659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uk-UA" sz="2200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uk-UA" sz="22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Tailwind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i18next;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Leaflet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Chart.js;</a:t>
            </a:r>
          </a:p>
          <a:p>
            <a:pPr marL="32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Місце для тексту 3">
            <a:extLst>
              <a:ext uri="{FF2B5EF4-FFF2-40B4-BE49-F238E27FC236}">
                <a16:creationId xmlns:a16="http://schemas.microsoft.com/office/drawing/2014/main" id="{C829071A-0FA9-F63B-2FA1-E40595551DD2}"/>
              </a:ext>
            </a:extLst>
          </p:cNvPr>
          <p:cNvSpPr txBox="1">
            <a:spLocks/>
          </p:cNvSpPr>
          <p:nvPr/>
        </p:nvSpPr>
        <p:spPr>
          <a:xfrm>
            <a:off x="6255373" y="1099457"/>
            <a:ext cx="2688771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uk-UA" sz="2200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22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-підсистема:</a:t>
            </a:r>
          </a:p>
          <a:p>
            <a:pPr marL="324000">
              <a:lnSpc>
                <a:spcPct val="14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MQTT;</a:t>
            </a:r>
          </a:p>
          <a:p>
            <a:pPr marL="324000">
              <a:lnSpc>
                <a:spcPct val="14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4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Mosquitto</a:t>
            </a: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24000">
              <a:lnSpc>
                <a:spcPct val="14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-симулятор (консольний застосунок);</a:t>
            </a:r>
          </a:p>
          <a:p>
            <a:pPr marL="324000">
              <a:lnSpc>
                <a:spcPct val="14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390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E6283-F540-CDB4-E544-8E1F6B44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F43B187-DF46-90A6-9A62-A9D02A1F1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21228"/>
            <a:ext cx="4663072" cy="3873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системи складається з </a:t>
            </a:r>
            <a:b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серверної частини, реляційної бази даних, веб-клієнта та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-підсистеми. . Серверна частина реалізує бізнес-логіку, авторизацію, роботу з даними та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-інтеграцію. Веб-клієнт забезпечує взаємодію користувачів із системою через інтерфейс.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-підсистема включає MQTT-брокер, симулятор сенсорів та механізми обробки телеметрії в реальному часі через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A6303B0-0D20-DEAC-3FDC-EFF1EA881F08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/>
              <a:t>8</a:t>
            </a:r>
            <a:endParaRPr lang="uk-UA" noProof="0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296FC3C-CB4C-9B0B-89B8-9ABA2B85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4815471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Архітектура системи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DF66128A-26CF-0CDA-44C4-9083BE72C62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127171" y="551157"/>
            <a:ext cx="4016829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12656DEF-E05B-2D75-7763-72C5D19BFF3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5B18C9-74A5-F34C-546D-A9D2F68678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5" b="1207"/>
          <a:stretch>
            <a:fillRect/>
          </a:stretch>
        </p:blipFill>
        <p:spPr bwMode="auto">
          <a:xfrm>
            <a:off x="5286472" y="801861"/>
            <a:ext cx="2933367" cy="3955196"/>
          </a:xfrm>
          <a:prstGeom prst="rect">
            <a:avLst/>
          </a:prstGeom>
          <a:ln w="28575"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0930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CE0C2-EB47-44A2-90F2-7BD8C2723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FBA220EC-25CD-5B93-88DE-B1C7F9A9AB70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/>
              <a:t>9</a:t>
            </a:r>
            <a:endParaRPr lang="uk-UA" noProof="0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340F425C-867B-4FC7-B9DC-78A81C6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7678414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Архітектурні підходи та шаблони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0382CADD-BFE4-A998-C049-01E96C92D082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7990114" y="551157"/>
            <a:ext cx="1153886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D1690DE9-F1FA-16CF-679E-B88626848C7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Місце для тексту 3">
            <a:extLst>
              <a:ext uri="{FF2B5EF4-FFF2-40B4-BE49-F238E27FC236}">
                <a16:creationId xmlns:a16="http://schemas.microsoft.com/office/drawing/2014/main" id="{E9311854-AEA1-FCEF-618E-1FFE725434C5}"/>
              </a:ext>
            </a:extLst>
          </p:cNvPr>
          <p:cNvSpPr txBox="1">
            <a:spLocks/>
          </p:cNvSpPr>
          <p:nvPr/>
        </p:nvSpPr>
        <p:spPr>
          <a:xfrm>
            <a:off x="1205361" y="1273904"/>
            <a:ext cx="6733278" cy="3483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проєкті застосовуються наступні підходи та шаблони:</a:t>
            </a:r>
          </a:p>
          <a:p>
            <a:pPr marL="50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0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CQRS (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Segregation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50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0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Dependency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0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Middleware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0400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Subscribe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8059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6E507-C359-216F-2CE1-A0048945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31050F84-C960-1897-913B-6768DDB8E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4472173" cy="831300"/>
          </a:xfrm>
        </p:spPr>
        <p:txBody>
          <a:bodyPr anchor="ctr">
            <a:normAutofit/>
          </a:bodyPr>
          <a:lstStyle/>
          <a:p>
            <a:r>
              <a:rPr lang="uk-UA" sz="4000" b="1" noProof="0" dirty="0"/>
              <a:t>Схема бази даних 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000282C2-4729-0261-81DC-B419ADBB47F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783873" y="551157"/>
            <a:ext cx="4360127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9CE9B84B-484D-87E1-474F-506AC85F51A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67B07F-7E72-C173-4EFD-60B2DB90D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65" y="1103400"/>
            <a:ext cx="7402069" cy="365365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9FDEF6EE-9E8C-F4A4-A884-D47F4E06CCEF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32363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DE4D-05B6-F6B1-9AE4-A8119A10C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BDEE70A-CA29-B17F-DEBA-5FC6794E3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856" y="1080930"/>
            <a:ext cx="3660587" cy="391394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системі реалізовано рольову модель доступу. Кожна роль (User, </a:t>
            </a:r>
            <a:r>
              <a:rPr lang="uk-UA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9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Moderator</a:t>
            </a: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має власний набір можливостей для роботи з укриттями та сенсорами. Після успішної авторизації на стороні клієнта здійснюється автоматичне перенаправлення на відповідну стартову сторінку.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EDF7F2E-9DCC-3CF7-078C-5B5A76451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4510671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Приклад реалізації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3F8AE9A7-9F4D-293A-60BB-4F0E25301AA7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822371" y="551157"/>
            <a:ext cx="4321629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0D593E4D-59EE-7072-8263-47E4050EBD2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380EE23-22DD-B493-BE44-711D5B1F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501" y="1061880"/>
            <a:ext cx="4416613" cy="3610879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FC21BB41-8EE3-7DC1-689D-136DD0AC8C72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747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0285-098A-11AB-B4C6-53020154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F6F1A90-45F3-1990-C90B-1D0FD0B4B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856" y="1080930"/>
            <a:ext cx="3084643" cy="391394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-симулятор надсилає показники сенсорів, після надходження повідомлення серверна частина отримує його через MQTT-підписку на відповідний </a:t>
            </a: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топік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Сервер перевіряє і зберігає дані у базу даних, а потім передає нові значення користувачам через </a:t>
            </a:r>
            <a:r>
              <a:rPr lang="uk-UA" sz="21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SignalR</a:t>
            </a:r>
            <a:r>
              <a:rPr lang="uk-UA" sz="2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режимі 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реального часу.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ED89037-FC8B-D287-F7D7-34818E016B23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12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8E1A6C0-B265-466D-259B-FA353B11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4510671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Приклад реалізації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F531D8D9-3DFA-B6E1-11A7-834233FC2D4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822371" y="551157"/>
            <a:ext cx="4321629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21BFFD54-7D6C-DBA6-506B-DD69FDE7E04E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93737F-B855-9286-7BCB-13FA317BF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43" y="1080932"/>
            <a:ext cx="4924428" cy="391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77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C11F-B562-4A54-9293-20564C9A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7C6F076-3F9D-78FD-2A99-13531A7D8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856" y="1080930"/>
            <a:ext cx="2467144" cy="26093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Симулятор реалізує генерацію даних: кожен сенсор має власний стан і тренд, </a:t>
            </a:r>
            <a:b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кожне нове значення відштовхується від попереднього. 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41638E2-FAE7-10DB-0EC6-B576FE7C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4510671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Приклад реалізації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D499BEC4-82C7-5D2D-A2CF-0BE49228CE22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822371" y="551157"/>
            <a:ext cx="4321629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422836E7-5834-F1DA-A197-27CE61280A6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вал 1">
            <a:extLst>
              <a:ext uri="{FF2B5EF4-FFF2-40B4-BE49-F238E27FC236}">
                <a16:creationId xmlns:a16="http://schemas.microsoft.com/office/drawing/2014/main" id="{722E1794-74E3-AFC0-D75B-D1B646E533D2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13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1D9A43-AF62-CF10-0748-CDB7CBE200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46"/>
          <a:stretch>
            <a:fillRect/>
          </a:stretch>
        </p:blipFill>
        <p:spPr>
          <a:xfrm>
            <a:off x="2775904" y="1170878"/>
            <a:ext cx="6022377" cy="22489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0A78FC-D92A-3FE2-BFC4-AC4492993E47}"/>
              </a:ext>
            </a:extLst>
          </p:cNvPr>
          <p:cNvSpPr txBox="1"/>
          <p:nvPr/>
        </p:nvSpPr>
        <p:spPr>
          <a:xfrm>
            <a:off x="199856" y="3722161"/>
            <a:ext cx="76893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9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Додатково між показниками реалізовано залежності, що дозволяє отримати реалістичний потік даних. Наприклад, зростання наповненості укриття автоматично впливає на рівень CO₂ та якість повітря.</a:t>
            </a:r>
            <a:endParaRPr lang="uk-UA" sz="1900" noProof="0" dirty="0"/>
          </a:p>
        </p:txBody>
      </p:sp>
    </p:spTree>
    <p:extLst>
      <p:ext uri="{BB962C8B-B14F-4D97-AF65-F5344CB8AC3E}">
        <p14:creationId xmlns:p14="http://schemas.microsoft.com/office/powerpoint/2010/main" val="2753888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CC0D0-2052-2D92-6031-20C4B068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DD6C492-505B-9CC4-ABE7-A925FFDBC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756" y="894861"/>
            <a:ext cx="8240487" cy="920821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uk-UA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 карту укриттів. Кожне укриття відображається окремим маркером, також є перегляд його основної інформації та пошук за </a:t>
            </a:r>
            <a:r>
              <a:rPr lang="uk-UA" sz="1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адресою</a:t>
            </a:r>
            <a:r>
              <a:rPr lang="uk-UA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3BAF9ED2-AFF1-D5EE-4025-28572EC96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5425071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Інтерфейс користувача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46585F2F-BCD6-53E0-9067-8C39B973C502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736771" y="551157"/>
            <a:ext cx="3407229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0897481A-5FAB-9AF9-E415-1A695566599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вал 1">
            <a:extLst>
              <a:ext uri="{FF2B5EF4-FFF2-40B4-BE49-F238E27FC236}">
                <a16:creationId xmlns:a16="http://schemas.microsoft.com/office/drawing/2014/main" id="{43144845-EFFE-2994-06BB-5EE38DB6704A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14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733DAE-68A1-A5EE-488F-2B7FD4183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572" y="1815682"/>
            <a:ext cx="6662855" cy="312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05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E28B7-E3B3-BD11-3F22-2103D0FD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F2EC049-CEA1-6BCF-B4D1-BF4230298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756" y="894861"/>
            <a:ext cx="8240487" cy="920821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uk-UA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 може відкрити детальну інформацію укриття, де бачить доступні ресурси, оголошення, сенсорні показники і може перейти на сторінку публікацій.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D96BEFA-DA70-D1D4-B6E0-CC2679DB1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5425071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Інтерфейс користувача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6937282A-3B50-FF11-09C6-41532BFE20D7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736771" y="551157"/>
            <a:ext cx="3407229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C76422F2-BBE3-E012-BC00-8E95AA39C64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вал 1">
            <a:extLst>
              <a:ext uri="{FF2B5EF4-FFF2-40B4-BE49-F238E27FC236}">
                <a16:creationId xmlns:a16="http://schemas.microsoft.com/office/drawing/2014/main" id="{F3D55EC7-54BC-C11A-5867-8EBED5D45FC0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57372C-FFD6-AF42-E128-E1E3FAD0B5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081" y="1824139"/>
            <a:ext cx="6299835" cy="300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71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9054-66BD-A611-C6A3-34FBC464E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307A65F-42B9-A0D8-B7DF-DA61DAC90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756" y="894861"/>
            <a:ext cx="8240487" cy="920821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uk-UA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формує аналітичні дані (середні значення, графіки) показників сенсорів, які дозволяють оцінювати стан укриття та виявляти потенційні проблеми.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89B5A0F-E7C7-1EC4-DB01-3A93DBE4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5425071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Інтерфейс користувача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4DDE5408-2DFD-C880-14C4-1CCEA051895B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736771" y="551157"/>
            <a:ext cx="3407229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30D93ECE-2143-D802-697E-E7310B88BC6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вал 1">
            <a:extLst>
              <a:ext uri="{FF2B5EF4-FFF2-40B4-BE49-F238E27FC236}">
                <a16:creationId xmlns:a16="http://schemas.microsoft.com/office/drawing/2014/main" id="{744B06F2-0258-BBF6-0817-8DD0A5390CD8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129283-417E-4BCD-C092-E6729BFCC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6" b="5159"/>
          <a:stretch>
            <a:fillRect/>
          </a:stretch>
        </p:blipFill>
        <p:spPr>
          <a:xfrm>
            <a:off x="1611500" y="1784741"/>
            <a:ext cx="5920997" cy="308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45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4A248-C339-F231-B72F-F2B6F369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4B712E8-D96D-B129-8E31-9443BCA8F4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11699" y="1148577"/>
            <a:ext cx="3962728" cy="357582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uk-UA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матеріалами проєкту підготовлено тези доповіді, подані третій міжнародній науково-практичній конференції «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and Technology</a:t>
            </a:r>
            <a:r>
              <a:rPr lang="uk-UA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Horizons of Development</a:t>
            </a:r>
            <a:r>
              <a:rPr lang="uk-UA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​». У роботі розглянуто актуальність, проєктування та особливості реалізації програмної системи дистанційного моніторингу стану укриттів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763DE1A-303A-365C-B891-CA624691E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148625"/>
            <a:ext cx="5403301" cy="831300"/>
          </a:xfrm>
        </p:spPr>
        <p:txBody>
          <a:bodyPr anchor="ctr">
            <a:normAutofit fontScale="90000"/>
          </a:bodyPr>
          <a:lstStyle/>
          <a:p>
            <a:r>
              <a:rPr lang="uk-UA" sz="4000" b="1" noProof="0" dirty="0"/>
              <a:t>Публікація результатів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0075DA2E-B9CB-74FD-D7D3-B743F035B64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715000" y="551157"/>
            <a:ext cx="3429000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25737166-CE6B-CD8A-F066-A5CC3EF4D11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699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>
            <a:extLst>
              <a:ext uri="{FF2B5EF4-FFF2-40B4-BE49-F238E27FC236}">
                <a16:creationId xmlns:a16="http://schemas.microsoft.com/office/drawing/2014/main" id="{B609EAB6-68AA-0563-F171-885EE53D33B7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557F609-FAE6-D217-7C04-1725C1306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65"/>
          <a:stretch>
            <a:fillRect/>
          </a:stretch>
        </p:blipFill>
        <p:spPr>
          <a:xfrm>
            <a:off x="4485180" y="1040684"/>
            <a:ext cx="3769238" cy="38703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66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A2A7-A7DC-8B1E-7034-51A39E68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1039425-04E0-E8B0-AC05-026D2CA39CB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30923" y="1273904"/>
            <a:ext cx="7082154" cy="34831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Подальший розвиток проєкту може включати: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мобільного застосунку;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інтеграцію з реальними </a:t>
            </a:r>
            <a:r>
              <a:rPr lang="uk-UA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-пристроями;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розширення аналітичного модуля;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впровадження прогнозування на основі історичних даних;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проведення навантажувального тестування;</a:t>
            </a:r>
          </a:p>
          <a:p>
            <a:pPr marL="504000" lvl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розгортання системи у хмарному середовищі.</a:t>
            </a:r>
          </a:p>
          <a:p>
            <a:pPr marL="186500" lvl="0" indent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SzPct val="80000"/>
              <a:buNone/>
            </a:pPr>
            <a:endParaRPr lang="uk-UA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AACE0E9-EBCE-350F-B587-0435BDDA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8255357" cy="831300"/>
          </a:xfrm>
        </p:spPr>
        <p:txBody>
          <a:bodyPr anchor="ctr">
            <a:normAutofit fontScale="90000"/>
          </a:bodyPr>
          <a:lstStyle/>
          <a:p>
            <a:r>
              <a:rPr lang="uk-UA" sz="3600" b="1" noProof="0" dirty="0"/>
              <a:t>Можливості розширення та покращення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3C03AC61-C485-0065-2A0F-40B54013CF7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567057" y="551157"/>
            <a:ext cx="576943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89785E5A-F563-853A-91F8-FA67EE8603A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>
            <a:extLst>
              <a:ext uri="{FF2B5EF4-FFF2-40B4-BE49-F238E27FC236}">
                <a16:creationId xmlns:a16="http://schemas.microsoft.com/office/drawing/2014/main" id="{F8E98C46-ECA4-0CF8-B903-14590461F560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39116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E94F-2A92-997E-253D-07450BDD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B8B97B3-3CC0-BBEA-1FB4-EB0B8915656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11700" y="1146341"/>
            <a:ext cx="8029211" cy="3620463"/>
          </a:xfrm>
        </p:spPr>
        <p:txBody>
          <a:bodyPr>
            <a:normAutofit/>
          </a:bodyPr>
          <a:lstStyle/>
          <a:p>
            <a:pPr marL="529400" lvl="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SzPct val="88000"/>
              <a:buFont typeface="Wingdings" panose="05000000000000000000" pitchFamily="2" charset="2"/>
              <a:buChar char="§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Розроблена система успішно реалізує основні вимоги до ефективного моніторингу та управління укриттями. </a:t>
            </a:r>
          </a:p>
          <a:p>
            <a:pPr marL="5294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SzPct val="88000"/>
              <a:buFont typeface="Wingdings" panose="05000000000000000000" pitchFamily="2" charset="2"/>
              <a:buChar char="§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 може застосовуватися для інформування населення про доступність і стан укриттів.</a:t>
            </a:r>
          </a:p>
          <a:p>
            <a:pPr marL="5294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SzPct val="88000"/>
              <a:buFont typeface="Wingdings" panose="05000000000000000000" pitchFamily="2" charset="2"/>
              <a:buChar char="§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Особливу цінність становить реалізовані збір телеметричних даних із сенсорів та оперативне сповіщення користувачів.</a:t>
            </a:r>
          </a:p>
          <a:p>
            <a:pPr marL="5294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SzPct val="88000"/>
              <a:buFont typeface="Wingdings" panose="05000000000000000000" pitchFamily="2" charset="2"/>
              <a:buChar char="§"/>
            </a:pPr>
            <a:r>
              <a:rPr lang="uk-UA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має значний потенціал для подальшого розвитку.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CC79A7D-1025-6143-AFC9-54ADD401F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8625"/>
            <a:ext cx="2311757" cy="831300"/>
          </a:xfrm>
        </p:spPr>
        <p:txBody>
          <a:bodyPr anchor="ctr">
            <a:normAutofit/>
          </a:bodyPr>
          <a:lstStyle/>
          <a:p>
            <a:r>
              <a:rPr lang="uk-UA" sz="3600" b="1" noProof="0" dirty="0"/>
              <a:t>Підсумки</a:t>
            </a:r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385E75A0-AE5B-A68A-8798-0BFA2E6FA042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623457" y="551157"/>
            <a:ext cx="6520543" cy="131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0E16E168-B937-C848-D11A-A3EADAE8EE6C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0" y="564275"/>
            <a:ext cx="3117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>
            <a:extLst>
              <a:ext uri="{FF2B5EF4-FFF2-40B4-BE49-F238E27FC236}">
                <a16:creationId xmlns:a16="http://schemas.microsoft.com/office/drawing/2014/main" id="{6CBF0860-A6C4-533B-A08E-3419EBE1726F}"/>
              </a:ext>
            </a:extLst>
          </p:cNvPr>
          <p:cNvSpPr/>
          <p:nvPr/>
        </p:nvSpPr>
        <p:spPr>
          <a:xfrm>
            <a:off x="8465172" y="4517571"/>
            <a:ext cx="478972" cy="4789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1100" noProof="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9920681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259</TotalTime>
  <Words>924</Words>
  <Application>Microsoft Office PowerPoint</Application>
  <PresentationFormat>Екран (16:9)</PresentationFormat>
  <Paragraphs>124</Paragraphs>
  <Slides>19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7" baseType="lpstr">
      <vt:lpstr>Cambria</vt:lpstr>
      <vt:lpstr>Wingdings</vt:lpstr>
      <vt:lpstr>Economica</vt:lpstr>
      <vt:lpstr>Symbol</vt:lpstr>
      <vt:lpstr>Arial</vt:lpstr>
      <vt:lpstr>Times New Roman</vt:lpstr>
      <vt:lpstr>Open Sans</vt:lpstr>
      <vt:lpstr>Шаблон презентації кваліфікаційної роботи магістрів</vt:lpstr>
      <vt:lpstr>Вебзастосунок для дистанційного моніторингу стану укриттів</vt:lpstr>
      <vt:lpstr>Мета роботи</vt:lpstr>
      <vt:lpstr>Аналіз проблеми</vt:lpstr>
      <vt:lpstr>Аналіз аналогів</vt:lpstr>
      <vt:lpstr>Постановка задачі</vt:lpstr>
      <vt:lpstr>Use-case діаграма</vt:lpstr>
      <vt:lpstr>Технології розробки</vt:lpstr>
      <vt:lpstr>Архітектура системи</vt:lpstr>
      <vt:lpstr>Архітектурні підходи та шаблони</vt:lpstr>
      <vt:lpstr>Схема бази даних </vt:lpstr>
      <vt:lpstr>Приклад реалізації</vt:lpstr>
      <vt:lpstr>Приклад реалізації</vt:lpstr>
      <vt:lpstr>Приклад реалізації</vt:lpstr>
      <vt:lpstr>Інтерфейс користувача</vt:lpstr>
      <vt:lpstr>Інтерфейс користувача</vt:lpstr>
      <vt:lpstr>Інтерфейс користувача</vt:lpstr>
      <vt:lpstr>Публікація результатів</vt:lpstr>
      <vt:lpstr>Можливості розширення та покращення</vt:lpstr>
      <vt:lpstr>Підсумки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Юля Туренко</dc:creator>
  <cp:lastModifiedBy>Юля Туренко</cp:lastModifiedBy>
  <cp:revision>20</cp:revision>
  <dcterms:created xsi:type="dcterms:W3CDTF">2026-06-06T19:39:50Z</dcterms:created>
  <dcterms:modified xsi:type="dcterms:W3CDTF">2026-06-08T09:50:16Z</dcterms:modified>
</cp:coreProperties>
</file>